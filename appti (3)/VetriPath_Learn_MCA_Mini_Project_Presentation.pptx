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94360"/>
            <a:ext cx="10911535" cy="557784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68680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0" y="822960"/>
            <a:ext cx="8961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00E5FF"/>
                </a:solidFill>
                <a:latin typeface="Segoe UI"/>
              </a:defRPr>
            </a:pPr>
            <a:r>
              <a:t>VetriPath Learn</a:t>
            </a:r>
          </a:p>
          <a:p>
            <a:pPr>
              <a:spcBef>
                <a:spcPts val="600"/>
              </a:spcBef>
              <a:defRPr sz="1900" b="1">
                <a:solidFill>
                  <a:srgbClr val="FFFFFF"/>
                </a:solidFill>
                <a:latin typeface="Segoe UI"/>
              </a:defRPr>
            </a:pPr>
            <a:r>
              <a:t>Offline-First Hybrid Career Guidance, Aptitude Learning and Placement Preparation Platform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 Mini Project Presentation Submitted for the Award of the Degree of Master of Computer Applications (MCA)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383280"/>
            <a:ext cx="5029200" cy="246888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52044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SUBMITTED BY: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1. DARUN RAJ D (RA2532241040009)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2. NISMETHA P (RA2532241040021)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Department of Computer Science &amp; 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383280"/>
            <a:ext cx="5029200" cy="246888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352044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GUIDED BY: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DR. A. MEENAKSHI, M.C.A., M.Phil., M.S., Ph.D.</a:t>
            </a:r>
          </a:p>
          <a:p>
            <a:pPr>
              <a:spcBef>
                <a:spcPts val="400"/>
              </a:spcBef>
              <a:defRPr sz="1300" b="1">
                <a:solidFill>
                  <a:srgbClr val="00E5FF"/>
                </a:solidFill>
              </a:defRPr>
            </a:pPr>
            <a:r>
              <a:t>Assistant Professor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</a:defRPr>
            </a:pPr>
            <a:r>
              <a:t>Department of Computer Science &amp; Applications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Executive Abstract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911535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BDF8"/>
                </a:solidFill>
              </a:defRPr>
            </a:pPr>
            <a:r>
              <a:t>VetriPath Learn — Offline-First Executive Project Abstract</a:t>
            </a:r>
          </a:p>
          <a:p>
            <a:pPr>
              <a:spcBef>
                <a:spcPts val="1000"/>
              </a:spcBef>
              <a:defRPr sz="1400" b="1">
                <a:solidFill>
                  <a:srgbClr val="00E5FF"/>
                </a:solidFill>
              </a:defRPr>
            </a:pPr>
            <a:r>
              <a:t>•  Industry Context &amp; Core Issue:</a:t>
            </a:r>
          </a:p>
          <a:p>
            <a:pPr>
              <a:spcBef>
                <a:spcPts val="200"/>
              </a:spcBef>
              <a:defRPr sz="1250">
                <a:solidFill>
                  <a:srgbClr val="FFFFFF"/>
                </a:solidFill>
              </a:defRPr>
            </a:pPr>
            <a:r>
              <a:t>   In contemporary campus recruitment drives, candidates face severe hurdles due to network volatility, ad-distracted portals, server latency, and lack of assessment anti-cheating controls.</a:t>
            </a:r>
          </a:p>
          <a:p>
            <a:pPr>
              <a:spcBef>
                <a:spcPts val="1000"/>
              </a:spcBef>
              <a:defRPr sz="1400" b="1">
                <a:solidFill>
                  <a:srgbClr val="00E5FF"/>
                </a:solidFill>
              </a:defRPr>
            </a:pPr>
            <a:r>
              <a:t>•  Dual-Platform Hybrid Architecture:</a:t>
            </a:r>
          </a:p>
          <a:p>
            <a:pPr>
              <a:spcBef>
                <a:spcPts val="200"/>
              </a:spcBef>
              <a:defRPr sz="1250">
                <a:solidFill>
                  <a:srgbClr val="FFFFFF"/>
                </a:solidFill>
              </a:defRPr>
            </a:pPr>
            <a:r>
              <a:t>   VetriPath Learn delivers a 100% offline-first dual-platform solution: a high-performance web portal for desktop practice, and a native Kotlin Jetpack Compose Android app (`VetriPath.apk`) for secure mobile practice.</a:t>
            </a:r>
          </a:p>
          <a:p>
            <a:pPr>
              <a:spcBef>
                <a:spcPts val="1000"/>
              </a:spcBef>
              <a:defRPr sz="1400" b="1">
                <a:solidFill>
                  <a:srgbClr val="00E5FF"/>
                </a:solidFill>
              </a:defRPr>
            </a:pPr>
            <a:r>
              <a:t>•  Comprehensive Practice Workstation:</a:t>
            </a:r>
          </a:p>
          <a:p>
            <a:pPr>
              <a:spcBef>
                <a:spcPts val="200"/>
              </a:spcBef>
              <a:defRPr sz="1250">
                <a:solidFill>
                  <a:srgbClr val="FFFFFF"/>
                </a:solidFill>
              </a:defRPr>
            </a:pPr>
            <a:r>
              <a:t>   Houses 12 integrated modules providing 2,000+ quantitative aptitude, reasoning, verbal, interactive JavaScript code execution sandbox, and 6-month placement timelines.</a:t>
            </a:r>
          </a:p>
          <a:p>
            <a:pPr>
              <a:spcBef>
                <a:spcPts val="1000"/>
              </a:spcBef>
              <a:defRPr sz="1400" b="1">
                <a:solidFill>
                  <a:srgbClr val="00E5FF"/>
                </a:solidFill>
              </a:defRPr>
            </a:pPr>
            <a:r>
              <a:t>•  Zero Server Reliance &amp; $0 Cost:</a:t>
            </a:r>
          </a:p>
          <a:p>
            <a:pPr>
              <a:spcBef>
                <a:spcPts val="200"/>
              </a:spcBef>
              <a:defRPr sz="1250">
                <a:solidFill>
                  <a:srgbClr val="FFFFFF"/>
                </a:solidFill>
              </a:defRPr>
            </a:pPr>
            <a:r>
              <a:t>   Centralizes offline data persistence inside HTML5 LocalStorage (`storage.js`), operating self-sufficiently under Airplane Mode with $0 operational server costs.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Presentation Agenda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197864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01.  Project Executive Abstract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09928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6479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02.  Introduction &amp; Project Background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76856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03.  Problem Statement &amp; Industry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43784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98648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04.  Our Solution &amp; Technical Approach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10712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6557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05.  What Problems Are Solved by VetriPath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77639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032503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06.  Project Objectives &amp; Key Goals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44568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9943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07.  Existing System vs VetriPath Comparison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11496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08.  Drawbacks of Online Preparation Portals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678424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733288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09.  Technology Stack Breakdown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1143000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197864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10.  Dual-Platform System 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1709928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76479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11.  Core Software Modules &amp; Descriptions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2276856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33172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12.  Database Design &amp; LocalStorage Schema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843784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898648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13.  UML Diagrams (DFD, ER, Use Case)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410712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46557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14.  System Implementation &amp; Native Shell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3977639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032503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15.  Application UI Screenshots Gallery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544568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4599432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16.  System Testing &amp; QA Execution Matrix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5111496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5166360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17.  Key System Advantages &amp; Benefits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5678424"/>
            <a:ext cx="5212080" cy="512064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5733288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Segoe UI"/>
              </a:defRPr>
            </a:pPr>
            <a:r>
              <a:t>18.  Future Roadmap &amp; Project Synthesis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7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7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2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2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2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2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2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2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27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27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2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2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3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3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3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3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3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3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37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37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3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3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4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4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4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4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PROJECT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Introduction &amp; Project Background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342900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Placement Environment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Corporate placement recruitment drives evaluate candidates across quantitative aptitude, logical reasoning, verbal ability, algorithmic coding, and interview screening tests.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</a:defRPr>
            </a:pPr>
            <a:r>
              <a:t>• Multi-stage campus selection criteria</a:t>
            </a:r>
            <a:br/>
            <a:r>
              <a:t>• High speed &amp; accuracy expectations</a:t>
            </a:r>
            <a:br/>
            <a:r>
              <a:t>• Requires continuous daily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42900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7160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Rural Network Bottleneck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Students face severe network drops. Online portals rely on persistent cloud servers and heavy ad banners, causing page loading failures and loss of practice records.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</a:defRPr>
            </a:pPr>
            <a:r>
              <a:t>• Severe internet drops in tier-2/3 towns</a:t>
            </a:r>
            <a:br/>
            <a:r>
              <a:t>• Loss of test submissions &amp; answers</a:t>
            </a:r>
            <a:br/>
            <a:r>
              <a:t>• Distractive ad banner clutter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188720"/>
            <a:ext cx="342900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371600"/>
            <a:ext cx="2971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VetriPath Dual-Platform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Delivers a 100% offline-first solution: a high-performance web portal for desktop practice, and a native Kotlin Jetpack Compose Android app (`VetriPath.apk`) for secure mobile practice.</a:t>
            </a:r>
          </a:p>
          <a:p>
            <a:pPr>
              <a:spcBef>
                <a:spcPts val="1200"/>
              </a:spcBef>
              <a:defRPr sz="1150">
                <a:solidFill>
                  <a:srgbClr val="94A3B8"/>
                </a:solidFill>
              </a:defRPr>
            </a:pPr>
            <a:r>
              <a:t>• 100% Airplane Mode operational</a:t>
            </a:r>
            <a:br/>
            <a:r>
              <a:t>• Zero cloud server dependencies</a:t>
            </a:r>
            <a:br/>
            <a:r>
              <a:t>• Sub-50ms instant local rendering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INDUSTRY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53312"/>
            <a:ext cx="4709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FF"/>
                </a:solidFill>
              </a:defRPr>
            </a:pPr>
            <a:r>
              <a:t>01. Persistent Network Dependency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Online portals fail during internet drops, causing answer submission errors and progress data loss.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Impact: Candidates lose exam state &amp; mock test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53312"/>
            <a:ext cx="4709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FF"/>
                </a:solidFill>
              </a:defRPr>
            </a:pPr>
            <a:r>
              <a:t>02. Fragmented Preparation Workstations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Candidates must navigate separate websites for aptitude, separate compilers for coding, and endure ad clutter.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Impact: Inefficient preparation workflow &amp; lost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2"/>
            <a:ext cx="4709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FF"/>
                </a:solidFill>
              </a:defRPr>
            </a:pPr>
            <a:r>
              <a:t>03. Lack of Mobile Security Control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Standard browsers lack native device locking, permitting screenshot captures and background app switching.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Impact: Unauthenticated practice &amp; security risks.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7033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67912"/>
            <a:ext cx="4709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5FF"/>
                </a:solidFill>
              </a:defRPr>
            </a:pPr>
            <a:r>
              <a:t>04. Unprotected Assessment Integrity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Mock tests permit copy-pasting, tab switching, and window minimization without issuing security alerts.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Impact: Unfair assessment results &amp; exam cheating.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Our Solution — VetriPath Learn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💡 100% Offline-First Web PWA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High-performance HTML5/CSS3/ES6 web application operating completely offline with local JavaScript engines.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💡 Hardened Native Android APK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Kotlin 1.9 &amp; Jetpack Compose WebView shell (`VetriPath.apk`) enforcing native biometric security &amp; window protection.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💡 Unified All-in-One Workstation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Houses 2,000+ quantitative aptitude, reasoning, verbal, interactive coding runner, and placement roadmaps in one portal.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7033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862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💡 Serverless $0 State Engine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Centralizes offline progress management inside LocalStorage (`storage.js`), eliminating cloud database fees.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PROBLEM SOLVED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What Problems Are Solved by VetriPath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53312"/>
            <a:ext cx="4709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✅ Network Drop &amp; Data Loss Solved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PROBLEM: Portals crash on internet drop losing exam state.</a:t>
            </a:r>
            <a:br/>
            <a:r>
              <a:t>SOLVED: 100% Airplane Mode execution guarantees zero answer loss or submission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53312"/>
            <a:ext cx="4709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✅ Distractive Ad Clutter Solved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PROBLEM: Portals load heavy ad banners causing 5-sec page delays.</a:t>
            </a:r>
            <a:br/>
            <a:r>
              <a:t>SOLVED: Sub-50ms instant local DOM rendering with zero third-party advertisements.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67912"/>
            <a:ext cx="4709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✅ Exam Copy-Pasting &amp; Cheating Solved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PROBLEM: Candidates switch tabs to search answers online during exams.</a:t>
            </a:r>
            <a:br/>
            <a:r>
              <a:t>SOLVED: Focus loss guard (`cheating_protection.js`) auto-submits exam on tab blur.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7033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67912"/>
            <a:ext cx="4709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✅ Mobile Screen Capture &amp; Leak Solved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PROBLEM: Mobile browsers permit recording &amp; screenshot captures.</a:t>
            </a:r>
            <a:br/>
            <a:r>
              <a:t>SOLVED: Native Android `FLAG_SECURE` completely blocks PrintScreen &amp; screen recording.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KEY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10911535" cy="896112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25272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38BDF8"/>
                </a:solidFill>
              </a:defRPr>
            </a:pPr>
            <a:r>
              <a:t>🎯  100% Offline-First Execution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Engineered dual-platform architecture (Web &amp; Android APK) operating seamlessly under complete Airplane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10911535" cy="896112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5856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38BDF8"/>
                </a:solidFill>
              </a:defRPr>
            </a:pPr>
            <a:r>
              <a:t>🎯  2,000+ Question Workstation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Provide randomized quantitative aptitude, reasoning, verbal, and client-side JavaScript coding sandbox.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54680"/>
            <a:ext cx="10911535" cy="896112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6440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38BDF8"/>
                </a:solidFill>
              </a:defRPr>
            </a:pPr>
            <a:r>
              <a:t>🎯  Client-Side Anti-Cheating Suite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Build `cheating_protection.js` with window focus loss detection, auto-submission, and shortcut blocking.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0520"/>
            <a:ext cx="10911535" cy="896112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7024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38BDF8"/>
                </a:solidFill>
              </a:defRPr>
            </a:pPr>
            <a:r>
              <a:t>🎯  Native Android Biometric Shield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Implement Jetpack Compose BiometricPrompt scanner and WindowManager `FLAG_SECURE` screenshot prevention.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66360"/>
            <a:ext cx="10911535" cy="896112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7608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38BDF8"/>
                </a:solidFill>
              </a:defRPr>
            </a:pPr>
            <a:r>
              <a:t>🎯  Serverless $0 Storage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FFFFFF"/>
                </a:solidFill>
              </a:defRPr>
            </a:pPr>
            <a:r>
              <a:t>Centralize state management inside LocalStorage (`storage.js`), eliminating cloud server fees ($0 cost).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7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7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COMPARATIVE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Existing System Analysis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188720"/>
          <a:ext cx="1091153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4053535"/>
              </a:tblGrid>
              <a:tr h="822960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Online Portals (IndiaBIX/GFG)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VetriPath Hybrid Platform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94A3B8"/>
                          </a:solidFill>
                        </a:defRPr>
                      </a:pPr>
                      <a:r>
                        <a:t>Network Dependency</a:t>
                      </a:r>
                    </a:p>
                  </a:txBody>
                  <a:tcPr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94A3B8"/>
                          </a:solidFill>
                        </a:defRPr>
                      </a:pPr>
                      <a:r>
                        <a:t>Requires active continuous internet connection</a:t>
                      </a:r>
                    </a:p>
                  </a:txBody>
                  <a:tcPr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FFFFFF"/>
                          </a:solidFill>
                        </a:defRPr>
                      </a:pPr>
                      <a:r>
                        <a:t>100% Offline-First (Airplane Mode operational)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94A3B8"/>
                          </a:solidFill>
                        </a:defRPr>
                      </a:pPr>
                      <a:r>
                        <a:t>Page Load Speed</a:t>
                      </a:r>
                    </a:p>
                  </a:txBody>
                  <a:tcPr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94A3B8"/>
                          </a:solidFill>
                        </a:defRPr>
                      </a:pPr>
                      <a:r>
                        <a:t>2,000ms - 5,000ms (Ad banner loading delays)</a:t>
                      </a:r>
                    </a:p>
                  </a:txBody>
                  <a:tcPr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FFFFFF"/>
                          </a:solidFill>
                        </a:defRPr>
                      </a:pPr>
                      <a:r>
                        <a:t>Sub-50ms instant local WebView rendering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94A3B8"/>
                          </a:solidFill>
                        </a:defRPr>
                      </a:pPr>
                      <a:r>
                        <a:t>Mobile Device Security</a:t>
                      </a:r>
                    </a:p>
                  </a:txBody>
                  <a:tcPr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94A3B8"/>
                          </a:solidFill>
                        </a:defRPr>
                      </a:pPr>
                      <a:r>
                        <a:t>Unauthenticated public browser history</a:t>
                      </a:r>
                    </a:p>
                  </a:txBody>
                  <a:tcPr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FFFFFF"/>
                          </a:solidFill>
                        </a:defRPr>
                      </a:pPr>
                      <a:r>
                        <a:t>Native Jetpack Compose Biometric Sensor Lock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94A3B8"/>
                          </a:solidFill>
                        </a:defRPr>
                      </a:pPr>
                      <a:r>
                        <a:t>Exam Cheating Monitor</a:t>
                      </a:r>
                    </a:p>
                  </a:txBody>
                  <a:tcPr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94A3B8"/>
                          </a:solidFill>
                        </a:defRPr>
                      </a:pPr>
                      <a:r>
                        <a:t>Permits copy-paste &amp; tab switching</a:t>
                      </a:r>
                    </a:p>
                  </a:txBody>
                  <a:tcPr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FFFFFF"/>
                          </a:solidFill>
                        </a:defRPr>
                      </a:pPr>
                      <a:r>
                        <a:t>Auto-submits exam on tab blur / focus loss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94A3B8"/>
                          </a:solidFill>
                        </a:defRPr>
                      </a:pPr>
                      <a:r>
                        <a:t>Deployment Overhead</a:t>
                      </a:r>
                    </a:p>
                  </a:txBody>
                  <a:tcPr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94A3B8"/>
                          </a:solidFill>
                        </a:defRPr>
                      </a:pPr>
                      <a:r>
                        <a:t>High monthly cloud server &amp; DB costs</a:t>
                      </a:r>
                    </a:p>
                  </a:txBody>
                  <a:tcPr>
                    <a:solidFill>
                      <a:srgbClr val="1515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FFFFFF"/>
                          </a:solidFill>
                        </a:defRPr>
                      </a:pPr>
                      <a:r>
                        <a:t>$0 serverless client-side storage 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SYSTEMIC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Drawbacks of Existing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56032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⚠️</a:t>
            </a:r>
            <a:br/>
            <a:r>
              <a:t>Network Vulnerability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Portals fail to render or save user test submissions during internet connectivity drops.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Unsaved test data</a:t>
            </a:r>
            <a:br/>
            <a:r>
              <a:t>• Frequent page timeouts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1" y="1188720"/>
            <a:ext cx="256032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1" y="137160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⚠️</a:t>
            </a:r>
            <a:br/>
            <a:r>
              <a:t>Intrusive Ad Clutter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Excessive third-party ad banners degrade rendering speed and cause severe candidate distraction.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Slow DOM loading</a:t>
            </a:r>
            <a:br/>
            <a:r>
              <a:t>• Reduced visual focus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188720"/>
            <a:ext cx="256032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37160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⚠️</a:t>
            </a:r>
            <a:br/>
            <a:r>
              <a:t>Unprotected Security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Standard mobile web browsers lack native biometric locking and permit screenshot captures.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Unrestricted app access</a:t>
            </a:r>
            <a:br/>
            <a:r>
              <a:t>• Easy screen recording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4815" y="1188720"/>
            <a:ext cx="256032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5" y="137160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⚠️</a:t>
            </a:r>
            <a:br/>
            <a:r>
              <a:t>Unprotected Assessments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Mock tests permit copy-pasting, tab switching, and window minimization without issuing security alerts.</a:t>
            </a:r>
          </a:p>
          <a:p>
            <a:pPr>
              <a:spcBef>
                <a:spcPts val="1200"/>
              </a:spcBef>
              <a:defRPr sz="1100">
                <a:solidFill>
                  <a:srgbClr val="94A3B8"/>
                </a:solidFill>
              </a:defRPr>
            </a:pPr>
            <a:r>
              <a:t>• Exam copy-pasting</a:t>
            </a:r>
            <a:br/>
            <a:r>
              <a:t>• Lack of tab blur alerts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TECH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Technology Stack Breakdown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34290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Web Frontend Tier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HTML5, CSS3 Glassmorphism, ES6 JavaScript, Tailwind CSS v3, `canvas-3d.js` particles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34290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7160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Mobile Native Shell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Kotlin 1.9, Jetpack Compose 1.5, Android WebView Interop (`setDomStorageEnabled`)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188720"/>
            <a:ext cx="34290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37160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Native Security SDK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AndroidX Biometric SDK 1.2, WindowManager `FLAG_SECURE` Flags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34290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Offline Storage Engine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HTML5 Web Storage API (`window.localStorage`), Centralized State Manager (`storage.js`)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703320"/>
            <a:ext cx="34290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88620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Deployment Outputs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Vercel Static Web PWA + Native Android Binary APK (`VetriPath.apk`)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3703320"/>
            <a:ext cx="34290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3886200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IDE &amp; Build Tools</a:t>
            </a:r>
          </a:p>
          <a:p>
            <a:pPr>
              <a:spcBef>
                <a:spcPts val="1000"/>
              </a:spcBef>
              <a:defRPr sz="1250">
                <a:solidFill>
                  <a:srgbClr val="FFFFFF"/>
                </a:solidFill>
              </a:defRPr>
            </a:pPr>
            <a:r>
              <a:t>Android Studio Hedgehog, VS Code, Git, GitHub Code Repository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7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7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4-TIER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Architecture Diagram</a:t>
            </a:r>
          </a:p>
        </p:txBody>
      </p:sp>
      <p:pic>
        <p:nvPicPr>
          <p:cNvPr id="9" name="Picture 8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88720"/>
            <a:ext cx="6858000" cy="4937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80960" y="1188720"/>
            <a:ext cx="3870655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371600"/>
            <a:ext cx="34134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Architecture Callouts: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</a:defRPr>
            </a:pPr>
            <a:r>
              <a:t>1. Client UI Layer: Responsive HTML5/Tailwind CSS viewports.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</a:defRPr>
            </a:pPr>
            <a:r>
              <a:t>2. Native Shell Layer: Kotlin Compose activity managing Biometric lock.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</a:defRPr>
            </a:pPr>
            <a:r>
              <a:t>3. Execution &amp; Security: JS code runner &amp; focus monitor.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</a:defRPr>
            </a:pPr>
            <a:r>
              <a:t>4. Persistence: LocalStorage JSON state manager (`storage.js`).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0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0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MODULE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Core Software Modules &amp; Module Descriptions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9844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Dashboard (`index.html`)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Displays progress meters, question metrics (2000+), solved count, &amp; action cards.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18872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9844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Aptitude (`aptitude.html`)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Covers 14 mathematical topics with formula guides &amp; choice feedback (`quiz.js`).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18872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29844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Reasoning (`reasoning.html`)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Analytical deduction across 9 topics including Blood Relations &amp; Syllogisms.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18872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29844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Verbal (`verbal.html`)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Enhances English grammar, error spotting rules, &amp; reading comprehension.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036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9008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5. Coding Sandbox (`coding.html`)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Client-side JS code runner (`coding_runner.js`) with stdout console capture.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288036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99008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6. Practice Hub (`practice.html`)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Central directory listing all practice topics with category tabs &amp; search.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88036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99008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7. Mock Test (`mocktest.html`)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Timed corporate exam simulator (`mocktest.js`) with randomized question pools.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288036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99008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8. Anti-Cheating Suite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Monitors window blur &amp; tab switching, triggering exam auto-submission.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7200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9. Native Biometric Shield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Enforces fingerprint lock &amp; FLAG_SECURE screenshot prevention on Android.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457200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68172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10. Bookmarks Hub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Maintains user pinned questions array in LocalStorage for candidate revision.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57200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68172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11. Placement Roadmap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6-month corporate prep timeline checklist (`roadmap_data.js`).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4572000"/>
            <a:ext cx="2560320" cy="1572768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4681728"/>
            <a:ext cx="2286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12. Global Search Index</a:t>
            </a:r>
          </a:p>
          <a:p>
            <a:pPr>
              <a:spcBef>
                <a:spcPts val="400"/>
              </a:spcBef>
              <a:defRPr sz="1050">
                <a:solidFill>
                  <a:srgbClr val="FFFFFF"/>
                </a:solidFill>
              </a:defRPr>
            </a:pPr>
            <a:r>
              <a:t>Real-time keyword indexing across all 30+ practice topics (`search.js`).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7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7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2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2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2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2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2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2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27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27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2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2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3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3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DATA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Database Design &amp; LocalStorage Schema</a:t>
            </a:r>
          </a:p>
        </p:txBody>
      </p:sp>
      <p:pic>
        <p:nvPicPr>
          <p:cNvPr id="9" name="Picture 8" descr="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88720"/>
            <a:ext cx="6858000" cy="4937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80960" y="1188720"/>
            <a:ext cx="3870655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371600"/>
            <a:ext cx="34134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LocalStorage JSON Keys: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placement_prep_state: Root container object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theme: User visual mode ('dark'/'light')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bookmarks: Saved question objects array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wrongAnswers: Missed question retry queue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history: Chronological mock test result logs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0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0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SYSTEM UML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Unified Modeling Language (UML) Overview</a:t>
            </a:r>
          </a:p>
        </p:txBody>
      </p:sp>
      <p:pic>
        <p:nvPicPr>
          <p:cNvPr id="9" name="Picture 8" descr="use_cas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88720"/>
            <a:ext cx="7315200" cy="4937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1188720"/>
            <a:ext cx="3413455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0476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Actor Use Cases: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</a:defRPr>
            </a:pPr>
            <a:r>
              <a:t>• Primary Actor: Placement Aspirant Candidate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</a:defRPr>
            </a:pPr>
            <a:r>
              <a:t>• Use Cases Executed:</a:t>
            </a:r>
            <a:br/>
            <a:r>
              <a:t>  1. Biometric Unlock App</a:t>
            </a:r>
            <a:br/>
            <a:r>
              <a:t>  2. Select Practice Category</a:t>
            </a:r>
            <a:br/>
            <a:r>
              <a:t>  3. Run JavaScript Code</a:t>
            </a:r>
            <a:br/>
            <a:r>
              <a:t>  4. Attempt Timed Exam</a:t>
            </a:r>
            <a:br/>
            <a:r>
              <a:t>  5. View Score &amp; Rationale</a:t>
            </a:r>
            <a:br/>
            <a:r>
              <a:t>  6. Pin Revision Bookmarks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0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0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CODE &amp; TECHNICAL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Implementation Highlights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Native Android Shell (`MainActivity.kt`)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Kotlin 1.9 &amp; Jetpack Compose activity setting WindowManager `FLAG_SECURE` screenshot blocking.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Anti-Cheating Engine (`cheating_protection.js`)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Monitors `window.blur` events and tab switches, triggering auto-submission upon focus loss.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JavaScript Code Runner (`coding_runner.js`)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Client-side JS evaluator capturing stdout console logs and verifying PASS test case badges.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7033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862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LocalStorage State Manager (`storage.js`)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Centralized synchronous state dispatcher storing theme, bookmarks, and test history offline.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INTERFACE PREVIEWS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Application UI Screenshots Gallery</a:t>
            </a:r>
          </a:p>
        </p:txBody>
      </p:sp>
      <p:pic>
        <p:nvPicPr>
          <p:cNvPr id="9" name="Picture 8" descr="snap_i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88720"/>
            <a:ext cx="5257800" cy="2377440"/>
          </a:xfrm>
          <a:prstGeom prst="rect">
            <a:avLst/>
          </a:prstGeom>
        </p:spPr>
      </p:pic>
      <p:pic>
        <p:nvPicPr>
          <p:cNvPr id="10" name="Picture 9" descr="snap_aptitu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188720"/>
            <a:ext cx="5257800" cy="2377440"/>
          </a:xfrm>
          <a:prstGeom prst="rect">
            <a:avLst/>
          </a:prstGeom>
        </p:spPr>
      </p:pic>
      <p:pic>
        <p:nvPicPr>
          <p:cNvPr id="11" name="Picture 10" descr="snap_cod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703320"/>
            <a:ext cx="5257800" cy="2377440"/>
          </a:xfrm>
          <a:prstGeom prst="rect">
            <a:avLst/>
          </a:prstGeom>
        </p:spPr>
      </p:pic>
      <p:pic>
        <p:nvPicPr>
          <p:cNvPr id="12" name="Picture 11" descr="snap_mockte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0760" y="3703320"/>
            <a:ext cx="5257800" cy="23774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0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0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2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2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TESTING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System Testing &amp; Quality Assurance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911535" cy="1536192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53312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✅  Testing Strategy Executed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Unit, Integration, Security (FLAG_SECURE &amp; Focus Loss Guard), Performance (&lt;50ms load), and Responsiveness Testing.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10911535" cy="1536192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✅  20 Test Cases Matrix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Executed 20 professional test cases covering Native Shell, Offline Storage, Coding Runner, and Mock Exam with 100% PASS rate.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10911535" cy="1536192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36592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✅  Security &amp; Integrity Check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Confirmed 100% blocking of PrintScreen, Ctrl+C/V, F12 inspect keys, and right-click context menus during active exams.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PLATFORM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Advantages &amp; System Benefits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⭐ 100% Offline-First Capability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Operates under complete Airplane Mode with zero cloud server dependencies or data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⭐ Sub-50ms DOM Rendering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Instant local WebView rendering speed without ad banner delays or remote network latency.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⭐ Dual Security Protection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Native Android Biometric fingerprint sensor lock paired with client-side window blur exam auto-submission.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3703320"/>
            <a:ext cx="5257800" cy="233172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86200"/>
            <a:ext cx="4709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⭐ $0 Operational Expenditure</a:t>
            </a:r>
          </a:p>
          <a:p>
            <a:pPr>
              <a:spcBef>
                <a:spcPts val="800"/>
              </a:spcBef>
              <a:defRPr sz="1250">
                <a:solidFill>
                  <a:srgbClr val="FFFFFF"/>
                </a:solidFill>
              </a:defRPr>
            </a:pPr>
            <a:r>
              <a:t>Serverless client-side execution and LocalStorage state management eliminating cloud infrastructure fees.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TECHNICAL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Future Enhancements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56032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PHASE 1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Cloud Sync Middleware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Optional Google Drive REST API integration for multi-device cloud backups.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1" y="1188720"/>
            <a:ext cx="256032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1" y="137160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PHASE 2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AI Diagnostic Analytics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Automated weakness identification recommending targeted practice topics.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188720"/>
            <a:ext cx="256032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37160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PHASE 3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WebSockets P2P Rooms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Real-time multiplayer testing rooms for 1v1 coding battles.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4815" y="1188720"/>
            <a:ext cx="2560320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5" y="1371600"/>
            <a:ext cx="2194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PHASE 4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Instructor Portal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Educator dashboard for building assessment profiles and exporting analytics.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1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1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3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3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15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15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28600"/>
            <a:ext cx="594360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28600"/>
            <a:ext cx="10058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PROJECT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 &amp; Key Achievements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911535" cy="493776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VetriPath Learn - Summary of Achievements:</a:t>
            </a:r>
          </a:p>
          <a:p>
            <a:pPr>
              <a:spcBef>
                <a:spcPts val="1400"/>
              </a:spcBef>
              <a:defRPr sz="1450">
                <a:solidFill>
                  <a:srgbClr val="FFFFFF"/>
                </a:solidFill>
              </a:defRPr>
            </a:pPr>
            <a:r>
              <a:t>• Successfully designed and deployed an offline-first dual-platform application (Web PWA &amp; Native Android APK).</a:t>
            </a:r>
          </a:p>
          <a:p>
            <a:pPr>
              <a:spcBef>
                <a:spcPts val="1400"/>
              </a:spcBef>
              <a:defRPr sz="1450">
                <a:solidFill>
                  <a:srgbClr val="FFFFFF"/>
                </a:solidFill>
              </a:defRPr>
            </a:pPr>
            <a:r>
              <a:t>• Delivered zero-latency access to 2,000+ quantitative aptitude, reasoning, verbal, and coding practice problems.</a:t>
            </a:r>
          </a:p>
          <a:p>
            <a:pPr>
              <a:spcBef>
                <a:spcPts val="1400"/>
              </a:spcBef>
              <a:defRPr sz="1450">
                <a:solidFill>
                  <a:srgbClr val="FFFFFF"/>
                </a:solidFill>
              </a:defRPr>
            </a:pPr>
            <a:r>
              <a:t>• Integrated client-side anti-cheating window blur focus loss monitoring and native Android FLAG_SECURE screenshot prevention.</a:t>
            </a:r>
          </a:p>
          <a:p>
            <a:pPr>
              <a:spcBef>
                <a:spcPts val="1400"/>
              </a:spcBef>
              <a:defRPr sz="1450">
                <a:solidFill>
                  <a:srgbClr val="FFFFFF"/>
                </a:solidFill>
              </a:defRPr>
            </a:pPr>
            <a:r>
              <a:t>• Confirmed sub-50ms DOM rendering speed and 100% test case pass rates across unit, integration, and security matrices.</a:t>
            </a:r>
          </a:p>
          <a:p>
            <a:pPr>
              <a:spcBef>
                <a:spcPts val="1400"/>
              </a:spcBef>
              <a:defRPr sz="1450">
                <a:solidFill>
                  <a:srgbClr val="FFFFFF"/>
                </a:solidFill>
              </a:defRPr>
            </a:pPr>
            <a:r>
              <a:t>• Operated at $0 operational expenditure using LocalStorage JSON state management, empowering students in low-bandwidth regions.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9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9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d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00200"/>
            <a:ext cx="3657600" cy="3657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0"/>
            <a:ext cx="10911535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VetriPath Learn — Master of Computer Applications (MCA) Mini Project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6949440" cy="502920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00E5FF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2100" b="1">
                <a:solidFill>
                  <a:srgbClr val="FFFFFF"/>
                </a:solidFill>
              </a:defRPr>
            </a:pPr>
            <a:r>
              <a:t>VetriPath Learn — Offline-First Placement Platform</a:t>
            </a:r>
          </a:p>
          <a:p>
            <a:pPr algn="ctr">
              <a:spcBef>
                <a:spcPts val="1400"/>
              </a:spcBef>
              <a:defRPr sz="1800" b="1">
                <a:solidFill>
                  <a:srgbClr val="38BDF8"/>
                </a:solidFill>
              </a:defRPr>
            </a:pPr>
            <a:br/>
            <a:r>
              <a:t>Questions &amp; Technical Discussion</a:t>
            </a:r>
          </a:p>
          <a:p>
            <a:pPr algn="ctr"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Presented by Darun Raj D &amp; Nismetha P</a:t>
            </a:r>
            <a:br/>
            <a:r>
              <a:t>Guided by Dr. A. Meenakshi, M.C.A., M.Phil., M.S., Ph.D. (Assistant Professor)</a:t>
            </a:r>
            <a:br/>
            <a:r>
              <a:t>Dept. of Computer Science &amp;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097280"/>
            <a:ext cx="3687775" cy="5029200"/>
          </a:xfrm>
          <a:prstGeom prst="roundRect">
            <a:avLst/>
          </a:prstGeom>
          <a:solidFill>
            <a:srgbClr val="15151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etripath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70" y="1371600"/>
            <a:ext cx="2743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4206240"/>
            <a:ext cx="33220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38BDF8"/>
                </a:solidFill>
              </a:defRPr>
            </a:pPr>
            <a:r>
              <a:t>SCAN TO VISIT LIVE PORTAL</a:t>
            </a:r>
          </a:p>
          <a:p>
            <a:pPr algn="ctr">
              <a:spcBef>
                <a:spcPts val="400"/>
              </a:spcBef>
              <a:defRPr sz="1250" b="1">
                <a:solidFill>
                  <a:srgbClr val="00E5FF"/>
                </a:solidFill>
              </a:defRPr>
            </a:pPr>
            <a:r>
              <a:t>https://www.vetripathlearn.site/</a:t>
            </a:r>
          </a:p>
          <a:p>
            <a:pPr algn="ctr"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Scan with mobile camera to launch platform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6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6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>
                                  <p:spTarget spid="8"/>
                                </p:cb>
                                <p:to>
                                  <p:visibility val="visible"/>
                                </p:to>
                              </p:set>
                              <p:anim filter="blinds(horizontal)" calcmode="lin" valueType="num">
                                <p:cb>
                                  <p:spTarget spid="8"/>
                                </p:cb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