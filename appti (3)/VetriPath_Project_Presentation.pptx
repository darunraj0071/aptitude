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73152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9184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5600" b="1">
                <a:solidFill>
                  <a:srgbClr val="FFFFFF"/>
                </a:solidFill>
                <a:latin typeface="Segoe UI"/>
              </a:defRPr>
            </a:pPr>
            <a:r>
              <a:t>VETRIPATH</a:t>
            </a:r>
          </a:p>
          <a:p>
            <a:pPr algn="ctr">
              <a:spcAft>
                <a:spcPts val="2400"/>
              </a:spcAft>
              <a:defRPr sz="2400" b="1">
                <a:solidFill>
                  <a:srgbClr val="7F5AF0"/>
                </a:solidFill>
                <a:latin typeface="Segoe UI"/>
              </a:defRPr>
            </a:pPr>
            <a:r>
              <a:t>Complete Career Prep Portal &amp; Android App</a:t>
            </a:r>
          </a:p>
          <a:p>
            <a:pPr algn="ctr">
              <a:defRPr sz="1500">
                <a:solidFill>
                  <a:srgbClr val="94A1B2"/>
                </a:solidFill>
                <a:latin typeface="Segoe UI"/>
              </a:defRPr>
            </a:pPr>
            <a:r>
              <a:t>An offline-first hybrid platform for placement, aptitude, and coding mastery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Concept &amp; Purpose: </a:t>
            </a:r>
            <a:r>
              <a:rPr sz="1600">
                <a:solidFill>
                  <a:srgbClr val="FFFFFF"/>
                </a:solidFill>
                <a:latin typeface="Segoe UI"/>
              </a:rPr>
              <a:t>VetriPath is a self-contained, hybrid education system engineered to assist students preparing for campus placements, technical interviews, and exams.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Offline-First Engineering: </a:t>
            </a:r>
            <a:r>
              <a:rPr sz="1600">
                <a:solidFill>
                  <a:srgbClr val="FFFFFF"/>
                </a:solidFill>
                <a:latin typeface="Segoe UI"/>
              </a:rPr>
              <a:t>Solves connectivity barriers by packaging all application assets (HTML/CSS/JS) locally within an Android wrapper container, operating entirely offline without API latency.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Interactive Multi-Modal Training: </a:t>
            </a:r>
            <a:r>
              <a:rPr sz="1600">
                <a:solidFill>
                  <a:srgbClr val="FFFFFF"/>
                </a:solidFill>
                <a:latin typeface="Segoe UI"/>
              </a:rPr>
              <a:t>Hosts Quantitative Aptitude, Logical Reasoning, and Verbal Ability practice modules along with an integrated coding workstation.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Security Container: </a:t>
            </a:r>
            <a:r>
              <a:rPr sz="1600">
                <a:solidFill>
                  <a:srgbClr val="FFFFFF"/>
                </a:solidFill>
                <a:latin typeface="Segoe UI"/>
              </a:rPr>
              <a:t>Leverages Jetpack Compose and biometrics to provide private locking mechanism, preventing unauthorized access to user progress files.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Exam Safeguards: </a:t>
            </a:r>
            <a:r>
              <a:rPr sz="1600">
                <a:solidFill>
                  <a:srgbClr val="FFFFFF"/>
                </a:solidFill>
                <a:latin typeface="Segoe UI"/>
              </a:rPr>
              <a:t>Implements robust, client-side cheating protection protocols specifically tailored to replicate strict, closed-environment corporate assessments.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Software &amp; Hardware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CB67D"/>
                </a:solidFill>
                <a:latin typeface="Segoe UI"/>
              </a:defRPr>
            </a:pPr>
            <a:r>
              <a:t>Software Environment Setup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Operating System: </a:t>
            </a:r>
            <a:r>
              <a:rPr sz="1400">
                <a:solidFill>
                  <a:srgbClr val="FFFFFF"/>
                </a:solidFill>
                <a:latin typeface="Segoe UI"/>
              </a:rPr>
              <a:t>Android 8.0 (API 26) or higher for Mobile App; modern web browsers supporting HTML5/ES6 for Web Interface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Core Languages: </a:t>
            </a:r>
            <a:r>
              <a:rPr sz="1400">
                <a:solidFill>
                  <a:srgbClr val="FFFFFF"/>
                </a:solidFill>
                <a:latin typeface="Segoe UI"/>
              </a:rPr>
              <a:t>Kotlin 1.9, Java (Android SDK), JavaScript (ES6+), HTML5, CSS3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Frameworks/SDKs: </a:t>
            </a:r>
            <a:r>
              <a:rPr sz="1400">
                <a:solidFill>
                  <a:srgbClr val="FFFFFF"/>
                </a:solidFill>
                <a:latin typeface="Segoe UI"/>
              </a:rPr>
              <a:t>Jetpack Compose, Android Jetpack Biometrics SDK, WebView Engine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Tools &amp; Servers: </a:t>
            </a:r>
            <a:r>
              <a:rPr sz="1400">
                <a:solidFill>
                  <a:srgbClr val="FFFFFF"/>
                </a:solidFill>
                <a:latin typeface="Segoe UI"/>
              </a:rPr>
              <a:t>Android Studio Hedgehog, VS Code, Gradle Build Tool, local development python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CB67D"/>
                </a:solidFill>
                <a:latin typeface="Segoe UI"/>
              </a:defRPr>
            </a:pPr>
            <a:r>
              <a:t>Hardware Configuration Setup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Development Unit: </a:t>
            </a:r>
            <a:r>
              <a:rPr sz="1400">
                <a:solidFill>
                  <a:srgbClr val="FFFFFF"/>
                </a:solidFill>
                <a:latin typeface="Segoe UI"/>
              </a:rPr>
              <a:t>Intel Core i5/AMD Ryzen 5 or higher, 8 GB RAM (16 GB recommended), 10 GB storage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Testing Device: </a:t>
            </a:r>
            <a:r>
              <a:rPr sz="1400">
                <a:solidFill>
                  <a:srgbClr val="FFFFFF"/>
                </a:solidFill>
                <a:latin typeface="Segoe UI"/>
              </a:rPr>
              <a:t>Android Smartphone with Biometric Sensor, Touch screen interface (minimum 2 GB RAM)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Candidate Hardware: </a:t>
            </a:r>
            <a:r>
              <a:rPr sz="1400">
                <a:solidFill>
                  <a:srgbClr val="FFFFFF"/>
                </a:solidFill>
                <a:latin typeface="Segoe UI"/>
              </a:rPr>
              <a:t>Core i3/equivalents, 4 GB RAM, minimum screen resolution 1366x768 pixels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Existing System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Network Dependencies: </a:t>
            </a:r>
            <a:r>
              <a:rPr sz="1600">
                <a:solidFill>
                  <a:srgbClr val="FFFFFF"/>
                </a:solidFill>
                <a:latin typeface="Segoe UI"/>
              </a:rPr>
              <a:t>Most assessment prep platforms (e.g. GeeksforGeeks, IndiaBIX) require active internet. Fail in rural areas or during network disruptions.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High Ads &amp; Distractions: </a:t>
            </a:r>
            <a:r>
              <a:rPr sz="1600">
                <a:solidFill>
                  <a:srgbClr val="FFFFFF"/>
                </a:solidFill>
                <a:latin typeface="Segoe UI"/>
              </a:rPr>
              <a:t>Online portals host heavy third-party banner ads, causing page delays, high RAM consumption, and user distraction.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Lack of App Consolidation: </a:t>
            </a:r>
            <a:r>
              <a:rPr sz="1600">
                <a:solidFill>
                  <a:srgbClr val="FFFFFF"/>
                </a:solidFill>
                <a:latin typeface="Segoe UI"/>
              </a:rPr>
              <a:t>Browser-only platforms are prone to notification triggers, taking focus away from study schedules.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Insecure Practice Sandbox: </a:t>
            </a:r>
            <a:r>
              <a:rPr sz="1600">
                <a:solidFill>
                  <a:srgbClr val="FFFFFF"/>
                </a:solidFill>
                <a:latin typeface="Segoe UI"/>
              </a:rPr>
              <a:t>Traditional study webs permit copy-pasting code, viewing developer console inspector (F12), and changing tabs, leading to inaccurate assessment statistics.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Proposed System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Offline Integration: </a:t>
            </a:r>
            <a:r>
              <a:rPr sz="1600">
                <a:solidFill>
                  <a:srgbClr val="FFFFFF"/>
                </a:solidFill>
                <a:latin typeface="Segoe UI"/>
              </a:rPr>
              <a:t>Direct asset packaging under Android assets folder. Zero loading latencies, 100% offline-ready operations.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Consolidated Shell: </a:t>
            </a:r>
            <a:r>
              <a:rPr sz="1600">
                <a:solidFill>
                  <a:srgbClr val="FFFFFF"/>
                </a:solidFill>
                <a:latin typeface="Segoe UI"/>
              </a:rPr>
              <a:t>Jetpack Compose hosts a secure, hardware-accelerated WebView engine with custom permissions.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Secure Biometric Shield: </a:t>
            </a:r>
            <a:r>
              <a:rPr sz="1600">
                <a:solidFill>
                  <a:srgbClr val="FFFFFF"/>
                </a:solidFill>
                <a:latin typeface="Segoe UI"/>
              </a:rPr>
              <a:t>Protects user data files using Android biometrics (Fingerprint/PIN prompts) prior to main app loading.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Cheating Protection Suite: </a:t>
            </a:r>
            <a:r>
              <a:rPr sz="1600">
                <a:solidFill>
                  <a:srgbClr val="FFFFFF"/>
                </a:solidFill>
                <a:latin typeface="Segoe UI"/>
              </a:rPr>
              <a:t>Monitors keyboard actions (blocking copy-paste, print-screen, inspector shortcut commands) and auto-submits mock exams immediately when browser blur or tab swap is detected.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Feasibility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CB67D"/>
                </a:solidFill>
                <a:latin typeface="Segoe UI"/>
              </a:defRPr>
            </a:pPr>
            <a:r>
              <a:t>Technical &amp; System Feasibility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Technical Viability: </a:t>
            </a:r>
            <a:r>
              <a:rPr sz="1400">
                <a:solidFill>
                  <a:srgbClr val="FFFFFF"/>
                </a:solidFill>
                <a:latin typeface="Segoe UI"/>
              </a:rPr>
              <a:t>Built on top of stable native WebView frameworks and standard HTML5/CSS3/JS execution engines.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Integration Stability: </a:t>
            </a:r>
            <a:r>
              <a:rPr sz="1400">
                <a:solidFill>
                  <a:srgbClr val="FFFFFF"/>
                </a:solidFill>
                <a:latin typeface="Segoe UI"/>
              </a:rPr>
              <a:t>Native Compose security wrapper works seamlessly with modern Android API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CB67D"/>
                </a:solidFill>
                <a:latin typeface="Segoe UI"/>
              </a:defRPr>
            </a:pPr>
            <a:r>
              <a:t>Economic &amp; Operational Feasibility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Economic Viability: </a:t>
            </a:r>
            <a:r>
              <a:rPr sz="1400">
                <a:solidFill>
                  <a:srgbClr val="FFFFFF"/>
                </a:solidFill>
                <a:latin typeface="Segoe UI"/>
              </a:rPr>
              <a:t>Serverless architecture leads to $0 deployment overhead. Uses open-source compilers and SDK resources.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Operational Viability: </a:t>
            </a:r>
            <a:r>
              <a:rPr sz="1400">
                <a:solidFill>
                  <a:srgbClr val="FFFFFF"/>
                </a:solidFill>
                <a:latin typeface="Segoe UI"/>
              </a:rPr>
              <a:t>Extremely intuitive UI layouts. Self-explanatory modules and automated timers ensure straightforward adoption.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Modules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Quantitative Aptitude: </a:t>
            </a:r>
            <a:r>
              <a:rPr sz="1600">
                <a:solidFill>
                  <a:srgbClr val="FFFFFF"/>
                </a:solidFill>
                <a:latin typeface="Segoe UI"/>
              </a:rPr>
              <a:t>Features 14 topics (Algebra, Speed, Work, Percentages, etc.). Concepts combined with 1000+ randomized questions.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Logical Reasoning: </a:t>
            </a:r>
            <a:r>
              <a:rPr sz="1600">
                <a:solidFill>
                  <a:srgbClr val="FFFFFF"/>
                </a:solidFill>
                <a:latin typeface="Segoe UI"/>
              </a:rPr>
              <a:t>Includes 9 modules (Blood Relations, Coding-Decoding, Seating Arrangements, etc.) highlighting reasoning rules.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Verbal Ability: </a:t>
            </a:r>
            <a:r>
              <a:rPr sz="1600">
                <a:solidFill>
                  <a:srgbClr val="FFFFFF"/>
                </a:solidFill>
                <a:latin typeface="Segoe UI"/>
              </a:rPr>
              <a:t>Covers 7 topics (Error Spotting, Para Jumbles, Grammar, Reading Comprehension) for vocabulary and grammar proficiency.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Coding Workspace: </a:t>
            </a:r>
            <a:r>
              <a:rPr sz="1600">
                <a:solidFill>
                  <a:srgbClr val="FFFFFF"/>
                </a:solidFill>
                <a:latin typeface="Segoe UI"/>
              </a:rPr>
              <a:t>Houses a JavaScript sandbox wrapper that processes and validates candidate scripts on the fly.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Mock Test Simulator: </a:t>
            </a:r>
            <a:r>
              <a:rPr sz="1600">
                <a:solidFill>
                  <a:srgbClr val="FFFFFF"/>
                </a:solidFill>
                <a:latin typeface="Segoe UI"/>
              </a:rPr>
              <a:t>Configurable exam generator (Easy, Medium, Hard, Full-Length) executing cheat protections and calculating user ratings.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2926080"/>
          </a:xfrm>
          <a:prstGeom prst="roundRect">
            <a:avLst/>
          </a:prstGeom>
          <a:solidFill>
            <a:srgbClr val="1F1E27"/>
          </a:solidFill>
          <a:ln w="2540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User Interface Client</a:t>
            </a:r>
          </a:p>
          <a:p>
            <a:pPr algn="ctr">
              <a:defRPr sz="1100">
                <a:solidFill>
                  <a:srgbClr val="94A1B2"/>
                </a:solidFill>
                <a:latin typeface="Segoe UI"/>
              </a:defRPr>
            </a:pPr>
            <a:r>
              <a:t>Mobile Screen</a:t>
            </a:r>
            <a:br/>
            <a:r>
              <a:t>Touch Interactions</a:t>
            </a:r>
            <a:br/>
            <a:r>
              <a:t>Keyboard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74720" cy="1828800"/>
          </a:xfrm>
          <a:prstGeom prst="roundRect">
            <a:avLst/>
          </a:prstGeom>
          <a:solidFill>
            <a:srgbClr val="1F1E27"/>
          </a:solidFill>
          <a:ln w="2540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Android Native App Container</a:t>
            </a:r>
          </a:p>
          <a:p>
            <a:pPr algn="ctr">
              <a:defRPr sz="1100">
                <a:solidFill>
                  <a:srgbClr val="94A1B2"/>
                </a:solidFill>
                <a:latin typeface="Segoe UI"/>
              </a:defRPr>
            </a:pPr>
            <a:r>
              <a:t>Kotlin Activity Shell</a:t>
            </a:r>
            <a:br/>
            <a:r>
              <a:t>Jetpack Compose States</a:t>
            </a:r>
            <a:br/>
            <a:r>
              <a:t>Biometrics SDK Lock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023360"/>
            <a:ext cx="3474720" cy="1828800"/>
          </a:xfrm>
          <a:prstGeom prst="roundRect">
            <a:avLst/>
          </a:prstGeom>
          <a:solidFill>
            <a:srgbClr val="1F1E27"/>
          </a:solidFill>
          <a:ln w="2540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WebView Web Host Engine</a:t>
            </a:r>
          </a:p>
          <a:p>
            <a:pPr algn="ctr">
              <a:defRPr sz="1100">
                <a:solidFill>
                  <a:srgbClr val="94A1B2"/>
                </a:solidFill>
                <a:latin typeface="Segoe UI"/>
              </a:defRPr>
            </a:pPr>
            <a:r>
              <a:t>DOM Caches Enabled</a:t>
            </a:r>
            <a:br/>
            <a:r>
              <a:t>File Access Permitted</a:t>
            </a:r>
            <a:br/>
            <a:r>
              <a:t>JS Execution Sandbox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286000"/>
            <a:ext cx="2560320" cy="2926080"/>
          </a:xfrm>
          <a:prstGeom prst="roundRect">
            <a:avLst/>
          </a:prstGeom>
          <a:solidFill>
            <a:srgbClr val="1F1E27"/>
          </a:solidFill>
          <a:ln w="2540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LocalStorage State DB</a:t>
            </a:r>
          </a:p>
          <a:p>
            <a:pPr algn="ctr">
              <a:defRPr sz="1100">
                <a:solidFill>
                  <a:srgbClr val="94A1B2"/>
                </a:solidFill>
                <a:latin typeface="Segoe UI"/>
              </a:defRPr>
            </a:pPr>
            <a:r>
              <a:t>placement_prep_state</a:t>
            </a:r>
            <a:br/>
            <a:r>
              <a:t>Bookmarks Index</a:t>
            </a:r>
            <a:br/>
            <a:r>
              <a:t>Wrong Answers Log</a:t>
            </a:r>
            <a:br/>
            <a:r>
              <a:t>Solved Question Logs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74720" y="2468880"/>
            <a:ext cx="731520" cy="274320"/>
          </a:xfrm>
          <a:prstGeom prst="rightArrow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474720" y="4663440"/>
            <a:ext cx="731520" cy="274320"/>
          </a:xfrm>
          <a:prstGeom prst="rightArrow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6035040" y="3566160"/>
            <a:ext cx="274320" cy="365760"/>
          </a:xfrm>
          <a:prstGeom prst="downArrow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046720" y="4663440"/>
            <a:ext cx="731520" cy="274320"/>
          </a:xfrm>
          <a:prstGeom prst="rightArrow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Level 1 Dataflow Diagram (DFD)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371600" cy="1371600"/>
          </a:xfrm>
          <a:prstGeom prst="rect">
            <a:avLst/>
          </a:prstGeom>
          <a:solidFill>
            <a:srgbClr val="1F1E27"/>
          </a:solidFill>
          <a:ln w="2540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Candidate</a:t>
            </a:r>
          </a:p>
        </p:txBody>
      </p:sp>
      <p:sp>
        <p:nvSpPr>
          <p:cNvPr id="6" name="Oval 5"/>
          <p:cNvSpPr/>
          <p:nvPr/>
        </p:nvSpPr>
        <p:spPr>
          <a:xfrm>
            <a:off x="2560320" y="2468880"/>
            <a:ext cx="1463040" cy="1463040"/>
          </a:xfrm>
          <a:prstGeom prst="ellipse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1.0</a:t>
            </a:r>
            <a:br/>
            <a:r>
              <a:t>Validate</a:t>
            </a:r>
            <a:br/>
            <a:r>
              <a:t>Biometrics</a:t>
            </a:r>
          </a:p>
        </p:txBody>
      </p:sp>
      <p:sp>
        <p:nvSpPr>
          <p:cNvPr id="7" name="Oval 6"/>
          <p:cNvSpPr/>
          <p:nvPr/>
        </p:nvSpPr>
        <p:spPr>
          <a:xfrm>
            <a:off x="4754880" y="2468880"/>
            <a:ext cx="1463040" cy="1463040"/>
          </a:xfrm>
          <a:prstGeom prst="ellipse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2.0</a:t>
            </a:r>
            <a:br/>
            <a:r>
              <a:t>Execute</a:t>
            </a:r>
            <a:br/>
            <a:r>
              <a:t>Practice Board</a:t>
            </a:r>
          </a:p>
        </p:txBody>
      </p:sp>
      <p:sp>
        <p:nvSpPr>
          <p:cNvPr id="8" name="Oval 7"/>
          <p:cNvSpPr/>
          <p:nvPr/>
        </p:nvSpPr>
        <p:spPr>
          <a:xfrm>
            <a:off x="6949440" y="2468880"/>
            <a:ext cx="1463040" cy="1463040"/>
          </a:xfrm>
          <a:prstGeom prst="ellipse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3.0</a:t>
            </a:r>
            <a:br/>
            <a:r>
              <a:t>Monitor</a:t>
            </a:r>
            <a:br/>
            <a:r>
              <a:t>Cheating Checks</a:t>
            </a:r>
          </a:p>
        </p:txBody>
      </p:sp>
      <p:sp>
        <p:nvSpPr>
          <p:cNvPr id="9" name="Oval 8"/>
          <p:cNvSpPr/>
          <p:nvPr/>
        </p:nvSpPr>
        <p:spPr>
          <a:xfrm>
            <a:off x="9144000" y="2468880"/>
            <a:ext cx="1463040" cy="1463040"/>
          </a:xfrm>
          <a:prstGeom prst="ellipse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4.0</a:t>
            </a:r>
            <a:br/>
            <a:r>
              <a:t>Synchronize</a:t>
            </a:r>
            <a:br/>
            <a:r>
              <a:t>State Logs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2697480"/>
            <a:ext cx="1005840" cy="1097280"/>
          </a:xfrm>
          <a:prstGeom prst="rect">
            <a:avLst/>
          </a:prstGeom>
          <a:solidFill>
            <a:srgbClr val="0F0E1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D1: Local</a:t>
            </a:r>
            <a:br/>
            <a:r>
              <a:t>Storage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11680" y="3063240"/>
            <a:ext cx="457200" cy="182880"/>
          </a:xfrm>
          <a:prstGeom prst="rightArrow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4A1B2"/>
                </a:solidFill>
              </a:defRPr>
            </a:pPr>
            <a:r>
              <a:t>Launch Request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3063240"/>
            <a:ext cx="457200" cy="182880"/>
          </a:xfrm>
          <a:prstGeom prst="rightArrow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4A1B2"/>
                </a:solidFill>
              </a:defRPr>
            </a:pPr>
            <a:r>
              <a:t>Success Verification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309360" y="3063240"/>
            <a:ext cx="457200" cy="182880"/>
          </a:xfrm>
          <a:prstGeom prst="rightArrow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4A1B2"/>
                </a:solidFill>
              </a:defRPr>
            </a:pPr>
            <a:r>
              <a:t>Select Exam Mode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03920" y="3063240"/>
            <a:ext cx="457200" cy="182880"/>
          </a:xfrm>
          <a:prstGeom prst="rightArrow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4A1B2"/>
                </a:solidFill>
              </a:defRPr>
            </a:pPr>
            <a:r>
              <a:t>Exam Results Log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698480" y="3063240"/>
            <a:ext cx="457200" cy="182880"/>
          </a:xfrm>
          <a:prstGeom prst="rightArrow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9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4A1B2"/>
                </a:solidFill>
              </a:defRPr>
            </a:pPr>
            <a:r>
              <a:t>Update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Interface Design (SYSTEM DESIGN)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Glassmorphism Concept: </a:t>
            </a:r>
            <a:r>
              <a:rPr sz="1600">
                <a:solidFill>
                  <a:srgbClr val="FFFFFF"/>
                </a:solidFill>
                <a:latin typeface="Segoe UI"/>
              </a:rPr>
              <a:t>Employs high-contrast translucent cards (`glass-card` styling) with fine borders and dark overlay shadows to present a polished, premium aesthetic.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Ambient Glow Fields: </a:t>
            </a:r>
            <a:r>
              <a:rPr sz="1600">
                <a:solidFill>
                  <a:srgbClr val="FFFFFF"/>
                </a:solidFill>
                <a:latin typeface="Segoe UI"/>
              </a:rPr>
              <a:t>Incorporates subtle background gradients and radial glows (`ambient-glow-1/2`) to create layout depth, keeping page elements readable.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Loading Screen Animation: </a:t>
            </a:r>
            <a:r>
              <a:rPr sz="1600">
                <a:solidFill>
                  <a:srgbClr val="FFFFFF"/>
                </a:solidFill>
                <a:latin typeface="Segoe UI"/>
              </a:rPr>
              <a:t>Combines custom CSS keyframes (`loading-screen`) with rotational spinner states and quotes, preventing visual flickering during initial app lock launch.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Mobile Side Drawer Menu: </a:t>
            </a:r>
            <a:r>
              <a:rPr sz="1600">
                <a:solidFill>
                  <a:srgbClr val="FFFFFF"/>
                </a:solidFill>
                <a:latin typeface="Segoe UI"/>
              </a:rPr>
              <a:t>Implements layout adapters and overlays, enabling standard navigation behaviors on smaller tablet and smartphone screens.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Software Modules Division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Kotlin Shell Module: </a:t>
            </a:r>
            <a:r>
              <a:rPr sz="1600">
                <a:solidFill>
                  <a:srgbClr val="FFFFFF"/>
                </a:solidFill>
                <a:latin typeface="Segoe UI"/>
              </a:rPr>
              <a:t>Hosts AppContent controllers, managing transitions between AppState.Splash, AppState.Lock, and AppState.Main WebView configurations.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Centralized State (storage.js): </a:t>
            </a:r>
            <a:r>
              <a:rPr sz="1600">
                <a:solidFill>
                  <a:srgbClr val="FFFFFF"/>
                </a:solidFill>
                <a:latin typeface="Segoe UI"/>
              </a:rPr>
              <a:t>Consolidates getState(), updateState(), addBookmark(), and logSolvedQuestion() state hooks into a single global window API.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Exam Simulator Engine (mocktest.js): </a:t>
            </a:r>
            <a:r>
              <a:rPr sz="1600">
                <a:solidFill>
                  <a:srgbClr val="FFFFFF"/>
                </a:solidFill>
                <a:latin typeface="Segoe UI"/>
              </a:rPr>
              <a:t>Constructs aggregated topic pools on demand. Leverages MockDataGen constructors to slice question arrays according to test tiers.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Security Shield (cheating_protection.js): </a:t>
            </a:r>
            <a:r>
              <a:rPr sz="1600">
                <a:solidFill>
                  <a:srgbClr val="FFFFFF"/>
                </a:solidFill>
                <a:latin typeface="Segoe UI"/>
              </a:rPr>
              <a:t>Intercepts and restructures document inputs, suppressing ContextMenu, Copy/Cut/Paste hooks, and logging visibility switch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Schema Design (LocalStorage JSON)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6611112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Field Name</a:t>
                      </a:r>
                    </a:p>
                  </a:txBody>
                  <a:tcPr>
                    <a:solidFill>
                      <a:srgbClr val="7F5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Storage Data Type</a:t>
                      </a:r>
                    </a:p>
                  </a:txBody>
                  <a:tcPr>
                    <a:solidFill>
                      <a:srgbClr val="7F5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Detailed Description &amp; Schema Role</a:t>
                      </a:r>
                    </a:p>
                  </a:txBody>
                  <a:tcPr>
                    <a:solidFill>
                      <a:srgbClr val="7F5A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String ('dark' | 'light')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94A1B2"/>
                          </a:solidFill>
                          <a:latin typeface="Segoe UI"/>
                        </a:defRPr>
                      </a:pPr>
                      <a:r>
                        <a:t>Saves candidate's preferred system interface color scheme settings (defaulting to dark).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bookmarks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Array of JSON Objects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94A1B2"/>
                          </a:solidFill>
                          <a:latin typeface="Segoe UI"/>
                        </a:defRPr>
                      </a:pPr>
                      <a:r>
                        <a:t>Tracks questions pinned by user. Indexes standard parameters (questionId, prompt, options, answer).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wrongAnswers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Array of Strings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94A1B2"/>
                          </a:solidFill>
                          <a:latin typeface="Segoe UI"/>
                        </a:defRPr>
                      </a:pPr>
                      <a:r>
                        <a:t>Logs IDs of questions answered incorrectly, populating the 'Retry Hub' queue for review sessions.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history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Array of Solved Logs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94A1B2"/>
                          </a:solidFill>
                          <a:latin typeface="Segoe UI"/>
                        </a:defRPr>
                      </a:pPr>
                      <a:r>
                        <a:t>Stores log objects containing: { questionId, topic, subject, correct: Boolean, timeSpent: Int, timestamp }.</a:t>
                      </a:r>
                    </a:p>
                  </a:txBody>
                  <a:tcPr>
                    <a:solidFill>
                      <a:srgbClr val="1F1E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Implementation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Asset Packaging Structure: </a:t>
            </a:r>
            <a:r>
              <a:rPr sz="1600">
                <a:solidFill>
                  <a:srgbClr val="FFFFFF"/>
                </a:solidFill>
                <a:latin typeface="Segoe UI"/>
              </a:rPr>
              <a:t>Assets copied to Android's `src/main/assets/appti` folder. Local WebView instances load filepaths offline (e.g. `file:///android_asset/appti/index.html`).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Compose Interop Layer: </a:t>
            </a:r>
            <a:r>
              <a:rPr sz="1600">
                <a:solidFill>
                  <a:srgbClr val="FFFFFF"/>
                </a:solidFill>
                <a:latin typeface="Segoe UI"/>
              </a:rPr>
              <a:t>AndroidView compose block constructs layout containers. Attaches BackHandler checks to prevent unintentional app closing during back gestures.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Hardware Acceleration: </a:t>
            </a:r>
            <a:r>
              <a:rPr sz="1600">
                <a:solidFill>
                  <a:srgbClr val="FFFFFF"/>
                </a:solidFill>
                <a:latin typeface="Segoe UI"/>
              </a:rPr>
              <a:t>Enables hardware-accelerated WebView properties (allowing universal access flags and offline storage APIs) within the secure container.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Original Code Implementation Snippets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212080" cy="4572000"/>
          </a:xfrm>
          <a:prstGeom prst="rect">
            <a:avLst/>
          </a:prstGeom>
          <a:solidFill>
            <a:srgbClr val="1C1B22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B67D"/>
                </a:solidFill>
                <a:latin typeface="Consolas"/>
              </a:defRPr>
            </a:pPr>
            <a:r>
              <a:t>  Kotlin (Android Native Screen Protection)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12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// MainActivity.kt - Screen Capture &amp; Biometric Lock Setup</a:t>
            </a:r>
            <a:br/>
            <a:r>
              <a:t>override fun onCreate(savedInstanceState: Bundle?) {</a:t>
            </a:r>
            <a:br/>
            <a:r>
              <a:t>    super.onCreate(savedInstanceState)</a:t>
            </a:r>
            <a:br/>
            <a:r>
              <a:t>    window.setFlags(</a:t>
            </a:r>
            <a:br/>
            <a:r>
              <a:t>        WindowManager.LayoutParams.FLAG_SECURE,</a:t>
            </a:r>
            <a:br/>
            <a:r>
              <a:t>        WindowManager.LayoutParams.FLAG_SECURE</a:t>
            </a:r>
            <a:br/>
            <a:r>
              <a:t>    )</a:t>
            </a:r>
            <a:br/>
            <a:r>
              <a:t>    enableEdgeToEdge()</a:t>
            </a:r>
            <a:br/>
            <a:r>
              <a:t>    setContent {</a:t>
            </a:r>
            <a:br/>
            <a:r>
              <a:t>        VetriPathTheme {</a:t>
            </a:r>
            <a:br/>
            <a:r>
              <a:t>            Surface(modifier = Modifier.fillMaxSize()) { AppContent() }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212080" cy="4572000"/>
          </a:xfrm>
          <a:prstGeom prst="rect">
            <a:avLst/>
          </a:prstGeom>
          <a:solidFill>
            <a:srgbClr val="1C1B22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B67D"/>
                </a:solidFill>
                <a:latin typeface="Consolas"/>
              </a:defRPr>
            </a:pPr>
            <a:r>
              <a:t>  JavaScript (Web Cheating Controller)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5212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// cheating_protection.js - Browser Tab Blur Auto-Submission</a:t>
            </a:r>
            <a:br/>
            <a:r>
              <a:t>function triggerFocusLossWarning() {</a:t>
            </a:r>
            <a:br/>
            <a:r>
              <a:t>    if (!active) return;</a:t>
            </a:r>
            <a:br/>
            <a:r>
              <a:t>    </a:t>
            </a:r>
            <a:br/>
            <a:r>
              <a:t>    PlacementPrepState.dispatchToast(</a:t>
            </a:r>
            <a:br/>
            <a:r>
              <a:t>        "🚨 Focus loss/Tab switch detected! Exam auto-submitted.", </a:t>
            </a:r>
            <a:br/>
            <a:r>
              <a:t>        "danger"</a:t>
            </a:r>
            <a:br/>
            <a:r>
              <a:t>    );</a:t>
            </a:r>
            <a:br/>
            <a:r>
              <a:t>    disable();</a:t>
            </a:r>
            <a:br/>
            <a:r>
              <a:t>    if (limitReachedCallback) {</a:t>
            </a:r>
            <a:br/>
            <a:r>
              <a:t>        limitReachedCallback(); // Auto-submit hook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Interface Visualizations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Dashboard Screens: </a:t>
            </a:r>
            <a:r>
              <a:rPr sz="1600">
                <a:solidFill>
                  <a:srgbClr val="FFFFFF"/>
                </a:solidFill>
                <a:latin typeface="Segoe UI"/>
              </a:rPr>
              <a:t>Four statistics widgets displaying Chapter quantities, total Questions (2000+), adaptable levels, and 100% offline operational flags.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Biometric Lock Prompt: </a:t>
            </a:r>
            <a:r>
              <a:rPr sz="1600">
                <a:solidFill>
                  <a:srgbClr val="FFFFFF"/>
                </a:solidFill>
                <a:latin typeface="Segoe UI"/>
              </a:rPr>
              <a:t>Native OS overlay displaying Fingerprint sensor icon, requesting authentication with cancel options.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Practice Board Console: </a:t>
            </a:r>
            <a:r>
              <a:rPr sz="1600">
                <a:solidFill>
                  <a:srgbClr val="FFFFFF"/>
                </a:solidFill>
                <a:latin typeface="Segoe UI"/>
              </a:rPr>
              <a:t>Split column showing study/shortcuts on the left, and multi-choice question interface with bookmark toggles on the right.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Mock Exam Workspace: </a:t>
            </a:r>
            <a:r>
              <a:rPr sz="1600">
                <a:solidFill>
                  <a:srgbClr val="FFFFFF"/>
                </a:solidFill>
                <a:latin typeface="Segoe UI"/>
              </a:rPr>
              <a:t>Countdown timer bar at the top, navigation board tracking answered questions, and immediate submission handlers.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Verification &amp; Quality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CB67D"/>
                </a:solidFill>
                <a:latin typeface="Segoe UI"/>
              </a:defRPr>
            </a:pPr>
            <a:r>
              <a:t>Biometric &amp; Offline Testing Logs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Biometric Locking Test: </a:t>
            </a:r>
            <a:r>
              <a:rPr sz="1400">
                <a:solidFill>
                  <a:srgbClr val="FFFFFF"/>
                </a:solidFill>
                <a:latin typeface="Segoe UI"/>
              </a:rPr>
              <a:t>Ensures Splash transitions to Lockscreen. Verifies successful scanner validation, PIN fallbacks, and sensor-missing bypass cases.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Offline Operations Test: </a:t>
            </a:r>
            <a:r>
              <a:rPr sz="1400">
                <a:solidFill>
                  <a:srgbClr val="FFFFFF"/>
                </a:solidFill>
                <a:latin typeface="Segoe UI"/>
              </a:rPr>
              <a:t>Confirms WebView loads correctly when mobile devices are on airplane mode, verifying storage sync works offline.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CB67D"/>
                </a:solidFill>
                <a:latin typeface="Segoe UI"/>
              </a:defRPr>
            </a:pPr>
            <a:r>
              <a:t>Exam Integrity &amp; Responsive Testing Logs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Cheating Prevention Test: </a:t>
            </a:r>
            <a:r>
              <a:rPr sz="1400">
                <a:solidFill>
                  <a:srgbClr val="FFFFFF"/>
                </a:solidFill>
                <a:latin typeface="Segoe UI"/>
              </a:rPr>
              <a:t>Simulates window blur and visibility toggles during active mock tests. Validates instant test submission triggers.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F5AF0"/>
                </a:solidFill>
                <a:latin typeface="Segoe UI"/>
              </a:rPr>
              <a:t>• UI Responsive Test: </a:t>
            </a:r>
            <a:r>
              <a:rPr sz="1400">
                <a:solidFill>
                  <a:srgbClr val="FFFFFF"/>
                </a:solidFill>
                <a:latin typeface="Segoe UI"/>
              </a:rPr>
              <a:t>Checks HTML grid rendering, fonts scaling, and menu navigation on viewport sizes from 5" devices to 10" tablet screens.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Future System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Cloud Sync Middleware: </a:t>
            </a:r>
            <a:r>
              <a:rPr sz="1600">
                <a:solidFill>
                  <a:srgbClr val="FFFFFF"/>
                </a:solidFill>
                <a:latin typeface="Segoe UI"/>
              </a:rPr>
              <a:t>Integrates standard Google Drive REST APIs for multi-device sync, backup, and restore.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AI Personal Analytics: </a:t>
            </a:r>
            <a:r>
              <a:rPr sz="1600">
                <a:solidFill>
                  <a:srgbClr val="FFFFFF"/>
                </a:solidFill>
                <a:latin typeface="Segoe UI"/>
              </a:rPr>
              <a:t>Recommends prep paths based on solved question difficulty scores and weaker subjects.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Peer-to-Peer Competitive Arena: </a:t>
            </a:r>
            <a:r>
              <a:rPr sz="1600">
                <a:solidFill>
                  <a:srgbClr val="FFFFFF"/>
                </a:solidFill>
                <a:latin typeface="Segoe UI"/>
              </a:rPr>
              <a:t>Online testing rooms and real-time scoreboards using standard WebSockets.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Instructor Management Console: </a:t>
            </a:r>
            <a:r>
              <a:rPr sz="1600">
                <a:solidFill>
                  <a:srgbClr val="FFFFFF"/>
                </a:solidFill>
                <a:latin typeface="Segoe UI"/>
              </a:rPr>
              <a:t>Allows educators to build assessment profiles, export progress reports, and track candidate metrics.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Summary &amp; Key Accomplishments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82880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Self-Contained Hybrid Portal: </a:t>
            </a:r>
            <a:r>
              <a:rPr sz="1600">
                <a:solidFill>
                  <a:srgbClr val="FFFFFF"/>
                </a:solidFill>
                <a:latin typeface="Segoe UI"/>
              </a:rPr>
              <a:t>Successfully developed a hybrid application framework that runs offline without loading delays.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High-Grade UI/UX Design: </a:t>
            </a:r>
            <a:r>
              <a:rPr sz="1600">
                <a:solidFill>
                  <a:srgbClr val="FFFFFF"/>
                </a:solidFill>
                <a:latin typeface="Segoe UI"/>
              </a:rPr>
              <a:t>Custom CSS and glassmorphism elements matching standard premium web layouts.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Robust Device Security: </a:t>
            </a:r>
            <a:r>
              <a:rPr sz="1600">
                <a:solidFill>
                  <a:srgbClr val="FFFFFF"/>
                </a:solidFill>
                <a:latin typeface="Segoe UI"/>
              </a:rPr>
              <a:t>Implemented biometrics locking to keep user logs protected locally on the device.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7F5AF0"/>
                </a:solidFill>
                <a:latin typeface="Segoe UI"/>
              </a:rPr>
              <a:t>• Assessment Integrity Control: </a:t>
            </a:r>
            <a:r>
              <a:rPr sz="1600">
                <a:solidFill>
                  <a:srgbClr val="FFFFFF"/>
                </a:solidFill>
                <a:latin typeface="Segoe UI"/>
              </a:rPr>
              <a:t>Built automated anti-cheating systems, ensuring test evaluations are reliable.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09728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47472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Aft>
                <a:spcPts val="2400"/>
              </a:spcAft>
              <a:defRPr sz="2000" i="1">
                <a:solidFill>
                  <a:srgbClr val="2CB67D"/>
                </a:solidFill>
                <a:latin typeface="Segoe UI"/>
              </a:defRPr>
            </a:pPr>
            <a:r>
              <a:t>"Walk the Path. Become the Victory. Inspire the World."</a:t>
            </a:r>
          </a:p>
          <a:p>
            <a:pPr algn="ctr">
              <a:defRPr sz="1400">
                <a:solidFill>
                  <a:srgbClr val="94A1B2"/>
                </a:solidFill>
                <a:latin typeface="Segoe UI"/>
              </a:defRPr>
            </a:pPr>
            <a:r>
              <a:t>VetriPath Team • App &amp; Website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